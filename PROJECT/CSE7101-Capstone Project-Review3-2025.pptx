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56" r:id="rId5"/>
    <p:sldId id="257" r:id="rId6"/>
    <p:sldId id="269" r:id="rId7"/>
    <p:sldId id="274" r:id="rId8"/>
    <p:sldId id="268" r:id="rId9"/>
    <p:sldId id="272" r:id="rId10"/>
    <p:sldId id="271" r:id="rId11"/>
    <p:sldId id="270" r:id="rId12"/>
    <p:sldId id="273" r:id="rId13"/>
    <p:sldId id="275" r:id="rId14"/>
    <p:sldId id="276" r:id="rId15"/>
    <p:sldId id="277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Edu </a:t>
            </a:r>
            <a:r>
              <a:rPr lang="en-IN" sz="24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Vision-WiTrack:Secure</a:t>
            </a:r>
            <a:r>
              <a:rPr lang="en-IN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Attendance with Visual Lock</a:t>
            </a:r>
            <a:endParaRPr sz="2400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1"/>
            <a:ext cx="4391131" cy="22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IST_04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ROLL NUMBER                  STUDENT NAME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20221IST0023                  G DHANUSH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20221IST0004                  ANOOP KUMAR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20221IST0006                   NAVYA B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Dr.Poornima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Information Science and Technology(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spl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in Artificial Intelligence and Data Science)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Dr.Pallavi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Mrs.Benitha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Chri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stinal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WorkFlow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 System Flow Chart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Design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 Description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Status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Challenges &amp; Future steps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582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609600" lvl="0" indent="-4572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methods are slow, inaccurate, and easily manipulated.</a:t>
            </a:r>
          </a:p>
          <a:p>
            <a:pPr marL="609600" lvl="0" indent="-4572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systems depend only on Wi-Fi or only on face recognition, allowing spoofing, proxy attendance, and mismatches.</a:t>
            </a:r>
          </a:p>
          <a:p>
            <a:pPr marL="609600" lvl="0" indent="-4572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this, we propose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dual validation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camera headcount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logs.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 with AI vision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proxy attendance and device sharing.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time taken for classroom attendance.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accuracy and alert mechanisms.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logs for monitoring and reporting.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2999"/>
            <a:ext cx="10668000" cy="476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IN" dirty="0"/>
              <a:t>The architecture of </a:t>
            </a:r>
            <a:r>
              <a:rPr lang="en-IN" dirty="0" err="1"/>
              <a:t>EduVision-WiTrack</a:t>
            </a:r>
            <a:r>
              <a:rPr lang="en-IN" dirty="0"/>
              <a:t> is layered: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device logs from Wi-Fi access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pointsCamera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 classroom video frames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Module: Record video frames in 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classroomMatching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device count with headcount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Processing Unit: Identify and tally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residentsFirebase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Functions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automation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Engine: Compare the number of devices and the number of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peopleAdmin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Device registration, session creation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Firestore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Save alerts and session logs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Functions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Automation in real time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Interface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Faculty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accessAdmin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sessions and registering devices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13B894F7-15C6-C878-0BB8-9A6D89B78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2" y="1022683"/>
            <a:ext cx="5504418" cy="519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Session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Classroom Image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AI Model → Detect students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devices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counts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 → Mark Attendance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Mismatch → Raise Alert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results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Session</a:t>
            </a:r>
          </a:p>
          <a:p>
            <a:endParaRPr lang="en-IN" dirty="0"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9D1B9C-7E23-3AE0-B2B1-047E86C1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Workflow / System Flowchart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DAC7F8C-BC64-7369-7F09-BE4D7BF0F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085" y="945125"/>
            <a:ext cx="4821084" cy="55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/>
              <a:t>Algorithm Design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83226"/>
            <a:ext cx="10668000" cy="51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START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Capture classroom image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Head_Count</a:t>
            </a: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← Detect students in image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IP_Count</a:t>
            </a: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← Get number of connected devices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IF </a:t>
            </a:r>
            <a:r>
              <a:rPr lang="en-US" sz="19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Head_Count</a:t>
            </a: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sz="19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IP_Count</a:t>
            </a: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THEN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Mark Attendance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ELSE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Raise Mismatch Alert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END IF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Save results to database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END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Module description table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714549-7C03-7724-3458-0EB262246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152362"/>
              </p:ext>
            </p:extLst>
          </p:nvPr>
        </p:nvGraphicFramePr>
        <p:xfrm>
          <a:off x="540774" y="1622323"/>
          <a:ext cx="10940025" cy="291157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646675">
                  <a:extLst>
                    <a:ext uri="{9D8B030D-6E8A-4147-A177-3AD203B41FA5}">
                      <a16:colId xmlns:a16="http://schemas.microsoft.com/office/drawing/2014/main" val="4049111973"/>
                    </a:ext>
                  </a:extLst>
                </a:gridCol>
                <a:gridCol w="3646675">
                  <a:extLst>
                    <a:ext uri="{9D8B030D-6E8A-4147-A177-3AD203B41FA5}">
                      <a16:colId xmlns:a16="http://schemas.microsoft.com/office/drawing/2014/main" val="117775892"/>
                    </a:ext>
                  </a:extLst>
                </a:gridCol>
                <a:gridCol w="3646675">
                  <a:extLst>
                    <a:ext uri="{9D8B030D-6E8A-4147-A177-3AD203B41FA5}">
                      <a16:colId xmlns:a16="http://schemas.microsoft.com/office/drawing/2014/main" val="3981690750"/>
                    </a:ext>
                  </a:extLst>
                </a:gridCol>
              </a:tblGrid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15865"/>
                  </a:ext>
                </a:extLst>
              </a:tr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 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Captures live 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772796"/>
                  </a:ext>
                </a:extLst>
              </a:tr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Identifies &amp; counts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749273"/>
                  </a:ext>
                </a:extLst>
              </a:tr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WiFi Log Reader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Fetches active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040885"/>
                  </a:ext>
                </a:extLst>
              </a:tr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Matching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Compares both 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178412"/>
                  </a:ext>
                </a:extLst>
              </a:tr>
              <a:tr h="4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Attendance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150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D055-A398-A60B-12D7-37CFF95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Implementation Status (Live Demo 50%)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A0D96-4B9A-9356-4AC8-3C0FDE927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now: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headcount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frame detection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device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logic (test mode)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Screenshots: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detection image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Match/Mismatch result</a:t>
            </a:r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BCC197-0912-8983-CD42-E585A3620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826" y="1007294"/>
            <a:ext cx="5122605" cy="250282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A47F65-3B7F-2552-AFB6-C5B78FD40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049" y="3799657"/>
            <a:ext cx="6967951" cy="126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0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4A62-BEBD-1E68-E58C-CE280E07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FB5A6E-7D8D-100E-7925-E311C5166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431624"/>
              </p:ext>
            </p:extLst>
          </p:nvPr>
        </p:nvGraphicFramePr>
        <p:xfrm>
          <a:off x="589935" y="1209368"/>
          <a:ext cx="10890865" cy="3864076"/>
        </p:xfrm>
        <a:graphic>
          <a:graphicData uri="http://schemas.openxmlformats.org/drawingml/2006/table">
            <a:tbl>
              <a:tblPr/>
              <a:tblGrid>
                <a:gridCol w="2178173">
                  <a:extLst>
                    <a:ext uri="{9D8B030D-6E8A-4147-A177-3AD203B41FA5}">
                      <a16:colId xmlns:a16="http://schemas.microsoft.com/office/drawing/2014/main" val="301780026"/>
                    </a:ext>
                  </a:extLst>
                </a:gridCol>
                <a:gridCol w="2178173">
                  <a:extLst>
                    <a:ext uri="{9D8B030D-6E8A-4147-A177-3AD203B41FA5}">
                      <a16:colId xmlns:a16="http://schemas.microsoft.com/office/drawing/2014/main" val="1138569267"/>
                    </a:ext>
                  </a:extLst>
                </a:gridCol>
                <a:gridCol w="2178173">
                  <a:extLst>
                    <a:ext uri="{9D8B030D-6E8A-4147-A177-3AD203B41FA5}">
                      <a16:colId xmlns:a16="http://schemas.microsoft.com/office/drawing/2014/main" val="455144370"/>
                    </a:ext>
                  </a:extLst>
                </a:gridCol>
                <a:gridCol w="2178173">
                  <a:extLst>
                    <a:ext uri="{9D8B030D-6E8A-4147-A177-3AD203B41FA5}">
                      <a16:colId xmlns:a16="http://schemas.microsoft.com/office/drawing/2014/main" val="3715012416"/>
                    </a:ext>
                  </a:extLst>
                </a:gridCol>
                <a:gridCol w="2178173">
                  <a:extLst>
                    <a:ext uri="{9D8B030D-6E8A-4147-A177-3AD203B41FA5}">
                      <a16:colId xmlns:a16="http://schemas.microsoft.com/office/drawing/2014/main" val="885779003"/>
                    </a:ext>
                  </a:extLst>
                </a:gridCol>
              </a:tblGrid>
              <a:tr h="96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75356"/>
                  </a:ext>
                </a:extLst>
              </a:tr>
              <a:tr h="96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Alburaiki</a:t>
                      </a:r>
                      <a:r>
                        <a:rPr lang="en-IN" dirty="0"/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GPS + 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Indoor inaccuracy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better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2075"/>
                  </a:ext>
                </a:extLst>
              </a:tr>
              <a:tr h="96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MAC-based WiFi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 logging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physical presence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413535"/>
                  </a:ext>
                </a:extLst>
              </a:tr>
              <a:tr h="96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WiFi</a:t>
                      </a:r>
                      <a:r>
                        <a:rPr lang="en-IN" dirty="0"/>
                        <a:t>/Bluetooth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Privacy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headcount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4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78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5E44-A80F-5A3B-1F1A-E7A0DD64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Challenges &amp; Future Steps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0742D-00BC-B10C-DFAB-0BC2EC780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AI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full web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filtering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final attendance reports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full end-to-end automation</a:t>
            </a:r>
          </a:p>
          <a:p>
            <a:pPr marL="7620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Steps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 &amp; angles affect AI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multiple devices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spoofing / shared hotspot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two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delays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910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6" ma:contentTypeDescription="Create a new document." ma:contentTypeScope="" ma:versionID="a2fcd3169beba2be6acc92e716b8ea28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897e6649c3b52d02fc60284af84145ac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Props1.xml><?xml version="1.0" encoding="utf-8"?>
<ds:datastoreItem xmlns:ds="http://schemas.openxmlformats.org/officeDocument/2006/customXml" ds:itemID="{A5124167-782A-45A3-9453-CF69C323E3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572270-0465-463E-9FA6-C3598D8A83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4A8CDA-E247-4307-A51B-5A258738722E}">
  <ds:schemaRefs>
    <ds:schemaRef ds:uri="d450f434-8884-451b-956f-1819749fd748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592</Words>
  <Application>Microsoft Office PowerPoint</Application>
  <PresentationFormat>Widescreen</PresentationFormat>
  <Paragraphs>153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</vt:lpstr>
      <vt:lpstr>Times New Roman</vt:lpstr>
      <vt:lpstr>Verdana</vt:lpstr>
      <vt:lpstr>Wingdings</vt:lpstr>
      <vt:lpstr>Bioinformatics</vt:lpstr>
      <vt:lpstr>Edu Vision-WiTrack:Secure Attendance with Visual Lock</vt:lpstr>
      <vt:lpstr>Content</vt:lpstr>
      <vt:lpstr>Problem Statement Number: 582</vt:lpstr>
      <vt:lpstr>Objectives</vt:lpstr>
      <vt:lpstr>System Architecture</vt:lpstr>
      <vt:lpstr>System Architecture</vt:lpstr>
      <vt:lpstr> Workflow / System Flowchart </vt:lpstr>
      <vt:lpstr>Algorithm Design</vt:lpstr>
      <vt:lpstr>Module description table</vt:lpstr>
      <vt:lpstr> Implementation Status (Live Demo 50%) </vt:lpstr>
      <vt:lpstr>Literature Review </vt:lpstr>
      <vt:lpstr> Challenges &amp; Future Steps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NAVYA B</cp:lastModifiedBy>
  <cp:revision>41</cp:revision>
  <dcterms:modified xsi:type="dcterms:W3CDTF">2025-11-30T13:55:33Z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
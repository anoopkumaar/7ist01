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3" r:id="rId14"/>
    <p:sldId id="274" r:id="rId15"/>
    <p:sldId id="271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B5A2F22-1BC3-4CFB-AB70-5588F7E5809F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3"/>
            <p14:sldId id="274"/>
            <p14:sldId id="271"/>
          </p14:sldIdLst>
        </p14:section>
        <p14:section name="Untitled Section" id="{CDA7529D-B579-4E34-BD5D-7CC885ECAB56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92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1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5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0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6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0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4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6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0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65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7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9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0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1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2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3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5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6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7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8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9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0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1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6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7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88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9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0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3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4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55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0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2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8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9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1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>
            <a:cxnSpLocks/>
          </p:cNvCxnSpPr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34Navy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SmartEduTrack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Student Attendance System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IST_4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IN" sz="17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Dr.Poornima</a:t>
            </a:r>
            <a:r>
              <a:rPr lang="en-IN" sz="17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                         Assistant Professor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              School of Computer Science and Engineering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                          Presidency University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4194304" name="Google Shape;89;p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459942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20221IST0023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 DHANUSH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20221IST0004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ANOOP KUMAR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20221IST0006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NAVYA B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Capstone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Program: </a:t>
            </a:r>
            <a:r>
              <a:rPr lang="en-US" sz="17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Information Science and Technology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</a:t>
            </a:r>
            <a:r>
              <a:rPr lang="en-US" sz="17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HoD</a:t>
            </a: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: </a:t>
            </a:r>
            <a:r>
              <a:rPr lang="en-US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Pallavi R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Program Project Coordinator: </a:t>
            </a:r>
            <a:r>
              <a:rPr lang="en-US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Ms. Benitha </a:t>
            </a:r>
            <a:r>
              <a:rPr lang="en-US" sz="17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Christinal</a:t>
            </a:r>
            <a:r>
              <a:rPr lang="en-US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J , Dr. Afroz Pasha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School Project Coordinators: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Dr. Sampath A K , Dr. Geetha 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9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89703"/>
            <a:ext cx="10668000" cy="4200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and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Methods and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Hardware and 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96;p14"/>
          <p:cNvSpPr txBox="1">
            <a:spLocks noGrp="1"/>
          </p:cNvSpPr>
          <p:nvPr>
            <p:ph type="title"/>
          </p:nvPr>
        </p:nvSpPr>
        <p:spPr>
          <a:xfrm>
            <a:off x="894080" y="233997"/>
            <a:ext cx="10668000" cy="538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674B85-AF3E-0643-2E9A-BF6E30F8C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" y="1111659"/>
            <a:ext cx="11419840" cy="390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attendance is time-consuming and prone to errors.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biometric/RFID methods lack flexibility and scalability.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smart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system where student devices connect via SSID; Flask API validates MAC + Register No. and marks attendance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accuracy, saves time, prevents proxy attendance.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Power BI for analytics and expansion to smart campuses.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104860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8" name="Rectangle 8"/>
          <p:cNvSpPr>
            <a:spLocks noChangeArrowheads="1"/>
          </p:cNvSpPr>
          <p:nvPr/>
        </p:nvSpPr>
        <p:spPr bwMode="auto">
          <a:xfrm>
            <a:off x="868218" y="1778768"/>
            <a:ext cx="8423266" cy="283564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with Existing Systems: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Delays in manual marking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Risk of proxy attendance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Biometric/RFID require extra hardware</a:t>
            </a:r>
          </a:p>
          <a:p>
            <a:pPr>
              <a:lnSpc>
                <a:spcPct val="150000"/>
              </a:lnSpc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Gap: Need for low-cost, reliable, non-intrusive method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894080" y="384464"/>
            <a:ext cx="10347728" cy="78393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104861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006956"/>
            <a:ext cx="12302033" cy="553228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 (IEEE, 2022):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Presence Detection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address authentication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spoofed easily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 (IEEE, 2021):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via </a:t>
            </a:r>
            <a:r>
              <a:rPr lang="en-IN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Fingerprinting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RSSI signal strength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reduced due to obstacles &amp; distance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 (IEEE, 2020):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Classroom Management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IoT devices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Costly &amp; complex setup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4 (IEEE, 2019):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Integrated </a:t>
            </a:r>
            <a:r>
              <a:rPr lang="en-IN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SSID validation + Mobile app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dependency, battery issues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5 (IEEE, 2018):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Smart Attendance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attendance in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dependency, privacy concerns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14;p17"/>
          <p:cNvSpPr txBox="1">
            <a:spLocks noGrp="1"/>
          </p:cNvSpPr>
          <p:nvPr>
            <p:ph type="title"/>
          </p:nvPr>
        </p:nvSpPr>
        <p:spPr>
          <a:xfrm>
            <a:off x="894080" y="18319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048614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9761" y="1282055"/>
            <a:ext cx="10810240" cy="48218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Automate attendance with minimal manual intervention.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 existing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infrastructure – no new hardware.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Enhance security using MAC addresses.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Provide mobile app interface for students.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Give faculty real-time reports &amp; analytics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Multi-Parameter Validation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SSID, MAC Address, and Registration Number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spoofing.</a:t>
            </a:r>
          </a:p>
          <a:p>
            <a:pPr>
              <a:lnSpc>
                <a:spcPct val="200000"/>
              </a:lnSpc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114;p17"/>
          <p:cNvSpPr txBox="1">
            <a:spLocks noGrp="1"/>
          </p:cNvSpPr>
          <p:nvPr>
            <p:ph type="title"/>
          </p:nvPr>
        </p:nvSpPr>
        <p:spPr>
          <a:xfrm>
            <a:off x="850276" y="2648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Drawbacks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8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1" y="1137994"/>
            <a:ext cx="5045372" cy="49628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Manual: Slow, error-prone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Biometric: Expensive, privacy issues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RFID: Risk of card sharing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Code: Proxy possible, time-consuming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system: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Faster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Low cost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Secure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Automated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38150" lvl="0" indent="-28575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</a:t>
            </a:r>
            <a:r>
              <a:rPr lang="en-IN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Student App (Android, Kotlin)</a:t>
            </a: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reads current Wi‑Fi SSID, sends check‑in with register number and device MAC.</a:t>
            </a:r>
          </a:p>
          <a:p>
            <a:pPr marL="438150" lvl="0" indent="-28575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</a:t>
            </a:r>
            <a:r>
              <a:rPr lang="en-IN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Backend (Flask): </a:t>
            </a: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verifies session is active, SSID matches, and MAC equals the registered device for the student.</a:t>
            </a:r>
          </a:p>
          <a:p>
            <a:pPr marL="438150" lvl="0" indent="-28575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</a:t>
            </a:r>
            <a:r>
              <a:rPr lang="en-IN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Database (SQLite/</a:t>
            </a:r>
            <a:r>
              <a:rPr lang="en-IN" sz="17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SQLAlchemy</a:t>
            </a:r>
            <a:r>
              <a:rPr lang="en-IN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stores students, courses, sessions, attendance.</a:t>
            </a:r>
          </a:p>
          <a:p>
            <a:pPr marL="438150" lvl="0" indent="-28575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</a:t>
            </a:r>
            <a:r>
              <a:rPr lang="en-IN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Reports</a:t>
            </a: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per‑session CSV export.</a:t>
            </a:r>
          </a:p>
          <a:p>
            <a:pPr marL="438150" lvl="0" indent="-28575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</a:t>
            </a:r>
            <a:r>
              <a:rPr lang="en-IN" sz="17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Security</a:t>
            </a:r>
            <a:r>
              <a:rPr lang="en-IN" sz="17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faculty API key required for administrative actions.</a:t>
            </a:r>
            <a:endParaRPr sz="17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83920" y="716418"/>
            <a:ext cx="10596880" cy="4571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0BD6A29D-286B-CAB0-2647-BD7780AC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59" y="1260948"/>
            <a:ext cx="9327413" cy="45508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8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29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30" name="Google Shape;115;p17"/>
          <p:cNvSpPr txBox="1"/>
          <p:nvPr/>
        </p:nvSpPr>
        <p:spPr>
          <a:xfrm>
            <a:off x="284481" y="990600"/>
            <a:ext cx="11196319" cy="43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hlinkClick r:id="rId3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B7FF44-3414-8EDD-2012-05E1EFCA7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36136"/>
              </p:ext>
            </p:extLst>
          </p:nvPr>
        </p:nvGraphicFramePr>
        <p:xfrm>
          <a:off x="711200" y="1295400"/>
          <a:ext cx="10769598" cy="4091939"/>
        </p:xfrm>
        <a:graphic>
          <a:graphicData uri="http://schemas.openxmlformats.org/drawingml/2006/table">
            <a:tbl>
              <a:tblPr/>
              <a:tblGrid>
                <a:gridCol w="3589866">
                  <a:extLst>
                    <a:ext uri="{9D8B030D-6E8A-4147-A177-3AD203B41FA5}">
                      <a16:colId xmlns:a16="http://schemas.microsoft.com/office/drawing/2014/main" val="3625489890"/>
                    </a:ext>
                  </a:extLst>
                </a:gridCol>
                <a:gridCol w="3589866">
                  <a:extLst>
                    <a:ext uri="{9D8B030D-6E8A-4147-A177-3AD203B41FA5}">
                      <a16:colId xmlns:a16="http://schemas.microsoft.com/office/drawing/2014/main" val="2833325757"/>
                    </a:ext>
                  </a:extLst>
                </a:gridCol>
                <a:gridCol w="3589866">
                  <a:extLst>
                    <a:ext uri="{9D8B030D-6E8A-4147-A177-3AD203B41FA5}">
                      <a16:colId xmlns:a16="http://schemas.microsoft.com/office/drawing/2014/main" val="11348458"/>
                    </a:ext>
                  </a:extLst>
                </a:gridCol>
              </a:tblGrid>
              <a:tr h="352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Unique Feature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450604"/>
                  </a:ext>
                </a:extLst>
              </a:tr>
              <a:tr h="84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Student Device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Captures </a:t>
                      </a:r>
                      <a:r>
                        <a:rPr lang="en-US" b="1"/>
                        <a:t>SSID, MAC Address, and Register No.</a:t>
                      </a:r>
                      <a:r>
                        <a:rPr lang="en-US"/>
                        <a:t> from student’s smartphone while connected to classroom WiFi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Lightweight, no extra app installation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4997"/>
                  </a:ext>
                </a:extLst>
              </a:tr>
              <a:tr h="84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2. Flask API                      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Acts as the </a:t>
                      </a:r>
                      <a:r>
                        <a:rPr lang="en-US" b="1" dirty="0"/>
                        <a:t>backend service</a:t>
                      </a:r>
                      <a:r>
                        <a:rPr lang="en-US" dirty="0"/>
                        <a:t> that validates input, starts/ends sessions, and interacts with the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Multi-parameter validation</a:t>
                      </a:r>
                      <a:r>
                        <a:rPr lang="en-IN"/>
                        <a:t> (SSID + MAC + Reg No.)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331537"/>
                  </a:ext>
                </a:extLst>
              </a:tr>
              <a:tr h="599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3. Database                     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structured records of </a:t>
                      </a:r>
                      <a:r>
                        <a:rPr lang="en-US" b="1"/>
                        <a:t>Students, Courses, Sessions, and Attendance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Centralized, scalable storage ensuring data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814078"/>
                  </a:ext>
                </a:extLst>
              </a:tr>
              <a:tr h="84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4. Faculty Portal      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Allows faculty to </a:t>
                      </a:r>
                      <a:r>
                        <a:rPr lang="en-US" b="1"/>
                        <a:t>start/end class sessions, view live attendance, and access data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Role-based access</a:t>
                      </a:r>
                      <a:r>
                        <a:rPr lang="en-US"/>
                        <a:t> with API key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859561"/>
                  </a:ext>
                </a:extLst>
              </a:tr>
              <a:tr h="599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5. Report Generator    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Exports session-wise or course-wise attendance in </a:t>
                      </a:r>
                      <a:r>
                        <a:rPr lang="en-US" b="1"/>
                        <a:t>CSV format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Easy record-keeping, compatible with external tools like Excel/Power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715399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164849-7201-956D-AE92-7A0BB933D3E4}"/>
              </a:ext>
            </a:extLst>
          </p:cNvPr>
          <p:cNvCxnSpPr/>
          <p:nvPr/>
        </p:nvCxnSpPr>
        <p:spPr>
          <a:xfrm>
            <a:off x="2600960" y="2092960"/>
            <a:ext cx="1625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AF86A6-6901-1516-EA3A-D67CC0BA8A87}"/>
              </a:ext>
            </a:extLst>
          </p:cNvPr>
          <p:cNvCxnSpPr/>
          <p:nvPr/>
        </p:nvCxnSpPr>
        <p:spPr>
          <a:xfrm>
            <a:off x="2611120" y="2915920"/>
            <a:ext cx="1605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5FCF21-7AB9-E9FC-C488-BFB59944414C}"/>
              </a:ext>
            </a:extLst>
          </p:cNvPr>
          <p:cNvCxnSpPr/>
          <p:nvPr/>
        </p:nvCxnSpPr>
        <p:spPr>
          <a:xfrm>
            <a:off x="2611120" y="3619500"/>
            <a:ext cx="1615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3DF937-8F0A-0612-DD36-09F2DCD85D4E}"/>
              </a:ext>
            </a:extLst>
          </p:cNvPr>
          <p:cNvCxnSpPr/>
          <p:nvPr/>
        </p:nvCxnSpPr>
        <p:spPr>
          <a:xfrm>
            <a:off x="2621280" y="4338320"/>
            <a:ext cx="1605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1E0781-23D3-5112-DC63-B116AB446F48}"/>
              </a:ext>
            </a:extLst>
          </p:cNvPr>
          <p:cNvCxnSpPr>
            <a:cxnSpLocks/>
          </p:cNvCxnSpPr>
          <p:nvPr/>
        </p:nvCxnSpPr>
        <p:spPr>
          <a:xfrm>
            <a:off x="2692400" y="5090160"/>
            <a:ext cx="1452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Requirements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4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i3/i5 or higher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 (8 GB recommended)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Storage: 250 GB HDD / SSD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</a:pP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Router: Standard 2.4/5 GHz router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Devices: Smartphones (Android/iOS with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System: Laptop/Desktop with browser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>
              <a:buFont typeface="+mj-lt"/>
              <a:buAutoNum type="alphaLcPeriod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 or Linux (Ubuntu)</a:t>
            </a:r>
          </a:p>
          <a:p>
            <a:pPr>
              <a:buFont typeface="+mj-lt"/>
              <a:buAutoNum type="alphaLcPeriod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3.8+</a:t>
            </a:r>
          </a:p>
          <a:p>
            <a:pPr>
              <a:buFont typeface="+mj-lt"/>
              <a:buAutoNum type="alphaLcPeriod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Flask (Python Micro-framework)</a:t>
            </a:r>
          </a:p>
          <a:p>
            <a:pPr>
              <a:buFont typeface="+mj-lt"/>
              <a:buAutoNum type="alphaLcPeriod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/ MongoDB</a:t>
            </a:r>
          </a:p>
          <a:p>
            <a:pPr>
              <a:buFont typeface="+mj-lt"/>
              <a:buAutoNum type="alphaLcPeriod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Chrome / Firefox</a:t>
            </a:r>
          </a:p>
          <a:p>
            <a:pPr>
              <a:buFont typeface="+mj-lt"/>
              <a:buAutoNum type="alphaLcPeriod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IDE/Editor: VS Code / PyCharm</a:t>
            </a:r>
          </a:p>
          <a:p>
            <a:pPr>
              <a:buFont typeface="+mj-lt"/>
              <a:buAutoNum type="alphaLcPeriod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Tool: CSV/Excel or Power BI (optional for visualization)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314632"/>
            <a:ext cx="10432026" cy="50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(Gantt Chart)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gantt_chart.png">
            <a:extLst>
              <a:ext uri="{FF2B5EF4-FFF2-40B4-BE49-F238E27FC236}">
                <a16:creationId xmlns:a16="http://schemas.microsoft.com/office/drawing/2014/main" id="{EE5805D4-345E-398F-CB4E-B96B4708F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6" y="1317523"/>
            <a:ext cx="9257068" cy="4628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7265-17E7-1F64-98F6-A9ED672D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1BAF-DD45-A7D7-455F-91DDB7CC5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Low cost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Reduces manual errors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Saves time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Requires smartphones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stable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Security depends on MAC filtering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13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42C1-C25B-6CAC-EABA-E07E46E2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8477A-2A52-FF7F-6E6F-1E2B8E6D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1074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AI-powered fraud detection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Integration with university ERP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Cloud-based scalability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Blockchain for secure logs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Cross-platform apps (Android &amp; iOS)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Agentic AI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965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C905-73B1-8DD4-7027-E947C7F5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of IEEE papers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B214A-BF14-FC4F-7BF0-3174D62F8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0880" y="995680"/>
            <a:ext cx="11856720" cy="5029200"/>
          </a:xfrm>
        </p:spPr>
        <p:txBody>
          <a:bodyPr>
            <a:normAutofit fontScale="70000" lnSpcReduction="20000"/>
          </a:bodyPr>
          <a:lstStyle/>
          <a:p>
            <a:pPr marL="76200" indent="0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D. Takahashi et al., 'IEEE 802.11 user fingerprinting and applications,' IEEE, 2021.</a:t>
            </a:r>
          </a:p>
          <a:p>
            <a:pPr marL="76200" indent="0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J. Zheng, K. Li, and X. Zhang, 'Wi-Fi fingerprint-based indoor localization,' Sensors, 2022.</a:t>
            </a:r>
          </a:p>
          <a:p>
            <a:pPr marL="76200" indent="0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F. Wang et al., 'Joint Activity Recognition and Indoor Localization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,'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 marL="76200" indent="0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C. M. Mesa-Cantillo et al., 'Non-Intrusive Human Presence Detection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CSI,' IEEE, 2020.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[5] M. Choi et al., 'Attendance Check System and Implementation for Wi-Fi,' IEEE, 2019.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[6] IJIREEICE, 'Attendance Monitoring System Utilizing Wi-Fi,' 2018.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[7] ResearchGate, 'Wi-Fi Based Smart Attendance Monitoring System,' 2021.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[8] J.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Infotel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'Revolutionizing Attendance Using ESP-NOW,' J.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Infotel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[9] M. Rahaman, 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SmartPresence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Wi-Fi-based attendance,' Springer, 2025.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[10] S. He et al., 'Wi-Fi Fingerprint-Based Indoor Positioning: A Survey,' IEEE, 2019.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10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347" y="1461264"/>
            <a:ext cx="3893305" cy="393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64127"/>
      </p:ext>
    </p:extLst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1078</Words>
  <Application>Microsoft Office PowerPoint</Application>
  <PresentationFormat>Widescreen</PresentationFormat>
  <Paragraphs>159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Cambria</vt:lpstr>
      <vt:lpstr>Times New Roman</vt:lpstr>
      <vt:lpstr>Verdana</vt:lpstr>
      <vt:lpstr>Wingdings</vt:lpstr>
      <vt:lpstr>Bioinformatics</vt:lpstr>
      <vt:lpstr>SmartEduTrack: WiFi-Based Student Attendance System</vt:lpstr>
      <vt:lpstr>Content</vt:lpstr>
      <vt:lpstr>Abstract</vt:lpstr>
      <vt:lpstr>Problem Statement</vt:lpstr>
      <vt:lpstr>Literature Survey </vt:lpstr>
      <vt:lpstr>Objectives</vt:lpstr>
      <vt:lpstr>Existing Methods &amp; Drawbacks</vt:lpstr>
      <vt:lpstr>Proposed Methodology</vt:lpstr>
      <vt:lpstr>System Architecture </vt:lpstr>
      <vt:lpstr>System Modules</vt:lpstr>
      <vt:lpstr>Hardware &amp; Software Requirements</vt:lpstr>
      <vt:lpstr>Project Timeline (Gantt Chart)</vt:lpstr>
      <vt:lpstr>Advantages &amp; Limitations</vt:lpstr>
      <vt:lpstr>Future Scope</vt:lpstr>
      <vt:lpstr>References of IEEE papers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NAVYA B</cp:lastModifiedBy>
  <cp:revision>2</cp:revision>
  <dcterms:created xsi:type="dcterms:W3CDTF">2025-08-19T21:51:51Z</dcterms:created>
  <dcterms:modified xsi:type="dcterms:W3CDTF">2025-09-07T17:01:08Z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0fd243805c2a4da6b8f095906c77413b</vt:lpwstr>
  </property>
</Properties>
</file>
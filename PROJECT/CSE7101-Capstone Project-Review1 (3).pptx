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3" r:id="rId14"/>
    <p:sldId id="274" r:id="rId15"/>
    <p:sldId id="271" r:id="rId16"/>
    <p:sldId id="27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92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2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1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5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0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6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0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4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6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0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83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4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95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4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65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7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9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0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1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2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3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5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6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7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8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9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0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1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4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2097155" name="Google Shape;52;p7" descr="C:\Users\AMMU\Desktop\Border.png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3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4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6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7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88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9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0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3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54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55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6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7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0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2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8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9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1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3145728" name="Google Shape;11;p1"/>
          <p:cNvCxnSpPr>
            <a:cxnSpLocks/>
          </p:cNvCxnSpPr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>
            <a:picLocks/>
          </p:cNvPicPr>
          <p:nvPr/>
        </p:nvPicPr>
        <p:blipFill rotWithShape="1">
          <a:blip r:embed="rId13">
            <a:alphaModFix/>
          </a:blip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34Navy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dirty="0" err="1"/>
              <a:t>SmartEduTrack</a:t>
            </a:r>
            <a:r>
              <a:rPr lang="en-US" dirty="0"/>
              <a:t>: </a:t>
            </a:r>
            <a:r>
              <a:rPr lang="en-US" dirty="0" err="1"/>
              <a:t>WiFi</a:t>
            </a:r>
            <a:r>
              <a:rPr lang="en-US" dirty="0"/>
              <a:t>-Based Student Attendance System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87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IST_4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700" b="1" dirty="0" err="1">
                <a:solidFill>
                  <a:schemeClr val="bg2"/>
                </a:solidFill>
                <a:latin typeface="Candara" panose="020E0502030303020204" pitchFamily="34" charset="0"/>
              </a:rPr>
              <a:t>Dr.Poornima</a:t>
            </a:r>
            <a:r>
              <a:rPr lang="en-IN" sz="1700" b="1" dirty="0">
                <a:solidFill>
                  <a:schemeClr val="bg2"/>
                </a:solidFill>
                <a:latin typeface="Candara" panose="020E0502030303020204" pitchFamily="34" charset="0"/>
              </a:rPr>
              <a:t> S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4194304" name="Google Shape;89;p13"/>
          <p:cNvGraphicFramePr>
            <a:graphicFrameLocks/>
          </p:cNvGraphicFramePr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20221IST0023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 DHANUSH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20221IST0004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ANOOP KUMAR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20221IST0006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NAVYA B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589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048590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 Science and Technology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Pallavi R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Ms. Benitha </a:t>
            </a:r>
            <a:r>
              <a:rPr lang="en-US" sz="18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Christinal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J , Dr. Afroz Pasha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99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89703"/>
            <a:ext cx="10668000" cy="4200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and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Methods and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Hardware and 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E4B60-1B6A-E01B-E3A8-8E211C77CF04}"/>
              </a:ext>
            </a:extLst>
          </p:cNvPr>
          <p:cNvSpPr txBox="1"/>
          <p:nvPr/>
        </p:nvSpPr>
        <p:spPr>
          <a:xfrm>
            <a:off x="655485" y="1258530"/>
            <a:ext cx="11264490" cy="32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dirty="0"/>
              <a:t>Manual attendance consumes time and is prone to errors.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dirty="0"/>
              <a:t>Traditional biometric/RFID systems require costly hardware.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dirty="0"/>
              <a:t>Proposed: </a:t>
            </a:r>
            <a:r>
              <a:rPr lang="en-US" dirty="0" err="1"/>
              <a:t>WiFi</a:t>
            </a:r>
            <a:r>
              <a:rPr lang="en-US" dirty="0"/>
              <a:t>-based automatic attendance via student devices.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dirty="0"/>
              <a:t>Benefits: Saves time, reduces proxy, integrates with records.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ü"/>
            </a:pPr>
            <a:r>
              <a:rPr lang="en-US" dirty="0"/>
              <a:t>Approach: Mobile app + backend database with </a:t>
            </a:r>
            <a:r>
              <a:rPr lang="en-US" dirty="0" err="1"/>
              <a:t>WiFi</a:t>
            </a:r>
            <a:r>
              <a:rPr lang="en-US" dirty="0"/>
              <a:t> authentication.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953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104860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08" name="Rectangle 8"/>
          <p:cNvSpPr>
            <a:spLocks noChangeArrowheads="1"/>
          </p:cNvSpPr>
          <p:nvPr/>
        </p:nvSpPr>
        <p:spPr bwMode="auto">
          <a:xfrm>
            <a:off x="868218" y="1721060"/>
            <a:ext cx="8423266" cy="29510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Issues with Existing Systems: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Delays in manual marking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Risk of proxy attendance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Biometric/RFID require extra hardware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Gap: Need for low-cost, reliable, non-intrusive method.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812800" y="716418"/>
            <a:ext cx="10668000" cy="45719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104861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1110" y="1112807"/>
            <a:ext cx="12367432" cy="4973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/>
              <a:t>Reviewed 10 research papers: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- MAC-based authentication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- </a:t>
            </a:r>
            <a:r>
              <a:rPr lang="en-US" sz="1800" dirty="0" err="1"/>
              <a:t>WiFi</a:t>
            </a:r>
            <a:r>
              <a:rPr lang="en-US" sz="1800" dirty="0"/>
              <a:t> CSI presence detection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- </a:t>
            </a:r>
            <a:r>
              <a:rPr lang="en-US" sz="1800" dirty="0" err="1"/>
              <a:t>WiFi</a:t>
            </a:r>
            <a:r>
              <a:rPr lang="en-US" sz="1800" dirty="0"/>
              <a:t> fingerprinting for localization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- Biometric, RFID &amp; QR alternatives</a:t>
            </a:r>
          </a:p>
          <a:p>
            <a:pPr>
              <a:lnSpc>
                <a:spcPct val="200000"/>
              </a:lnSpc>
            </a:pPr>
            <a:endParaRPr lang="en-US" sz="1800" dirty="0"/>
          </a:p>
          <a:p>
            <a:pPr>
              <a:lnSpc>
                <a:spcPct val="200000"/>
              </a:lnSpc>
            </a:pPr>
            <a:r>
              <a:rPr lang="en-US" sz="1800" dirty="0"/>
              <a:t>Gaps identified: Scalability, cost, hardware dependency, security issues.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1048614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8929" y="1137588"/>
            <a:ext cx="10781071" cy="31829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/>
              <a:t>1. Automate attendance with minimal manual intervention.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2. Use existing </a:t>
            </a:r>
            <a:r>
              <a:rPr lang="en-US" sz="1800" dirty="0" err="1"/>
              <a:t>WiFi</a:t>
            </a:r>
            <a:r>
              <a:rPr lang="en-US" sz="1800" dirty="0"/>
              <a:t> infrastructure – no new hardware.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3. Enhance security using MAC addresses.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4. Provide mobile app interface for students.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5. Give faculty real-time reports &amp; analytics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114;p17"/>
          <p:cNvSpPr txBox="1">
            <a:spLocks noGrp="1"/>
          </p:cNvSpPr>
          <p:nvPr>
            <p:ph type="title"/>
          </p:nvPr>
        </p:nvSpPr>
        <p:spPr>
          <a:xfrm>
            <a:off x="850276" y="2648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/>
              <a:t>Existing Methods &amp; Drawbacks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8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6515" y="1214799"/>
            <a:ext cx="4938857" cy="53783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Manual: Slow, error-prone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Biometric: Expensive, privacy issues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RFID: Risk of card sharing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QR Code: Proxy possible, time-consuming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Proposed </a:t>
            </a:r>
            <a:r>
              <a:rPr lang="en-US" sz="1800" dirty="0" err="1"/>
              <a:t>WiFi</a:t>
            </a:r>
            <a:r>
              <a:rPr lang="en-US" sz="1800" dirty="0"/>
              <a:t>-based system: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Faster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Low cost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Secure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Automated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/>
              <a:t>Proposed Methodology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22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- Students connect automatically to classroom </a:t>
            </a:r>
            <a:r>
              <a:rPr lang="en-US" dirty="0" err="1"/>
              <a:t>WiFi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- Server checks MAC + timestamp</a:t>
            </a:r>
          </a:p>
          <a:p>
            <a:pPr>
              <a:lnSpc>
                <a:spcPct val="200000"/>
              </a:lnSpc>
            </a:pPr>
            <a:r>
              <a:rPr lang="en-US" dirty="0"/>
              <a:t>- Attendance logged in DB</a:t>
            </a:r>
          </a:p>
          <a:p>
            <a:pPr>
              <a:lnSpc>
                <a:spcPct val="200000"/>
              </a:lnSpc>
            </a:pPr>
            <a:r>
              <a:rPr lang="en-US" dirty="0"/>
              <a:t>- Faculty dashboard for updates</a:t>
            </a:r>
          </a:p>
          <a:p>
            <a:pPr>
              <a:lnSpc>
                <a:spcPct val="200000"/>
              </a:lnSpc>
            </a:pPr>
            <a:r>
              <a:rPr lang="en-US" dirty="0"/>
              <a:t>- Admin access for analytics &amp; backup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83920" y="716418"/>
            <a:ext cx="10596880" cy="45719"/>
          </a:xfrm>
        </p:spPr>
        <p:txBody>
          <a:bodyPr/>
          <a:lstStyle/>
          <a:p>
            <a:r>
              <a:rPr lang="en-IN" dirty="0"/>
              <a:t>System Architecture</a:t>
            </a:r>
            <a:b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pic>
        <p:nvPicPr>
          <p:cNvPr id="2" name="Picture 1" descr="system_architecture.png">
            <a:extLst>
              <a:ext uri="{FF2B5EF4-FFF2-40B4-BE49-F238E27FC236}">
                <a16:creationId xmlns:a16="http://schemas.microsoft.com/office/drawing/2014/main" id="{4C2A2FCA-E3DD-A311-95AC-7F15BF865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045" y="142875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/>
              <a:t>System Modules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28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29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30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US" dirty="0"/>
              <a:t>1. Authentication Module</a:t>
            </a:r>
          </a:p>
          <a:p>
            <a:r>
              <a:rPr lang="en-US" dirty="0"/>
              <a:t>2. Database Module</a:t>
            </a:r>
          </a:p>
          <a:p>
            <a:r>
              <a:rPr lang="en-US" dirty="0"/>
              <a:t>3. Mobile Application Module</a:t>
            </a:r>
          </a:p>
          <a:p>
            <a:r>
              <a:rPr lang="en-US" dirty="0"/>
              <a:t>4. Faculty Dashboard Module</a:t>
            </a:r>
          </a:p>
          <a:p>
            <a:r>
              <a:rPr lang="en-US" dirty="0"/>
              <a:t>5. Admin Module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hlinkClick r:id="rId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/>
              <a:t>Hardware &amp; Software Requirements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34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dirty="0"/>
              <a:t>Hardware:</a:t>
            </a:r>
          </a:p>
          <a:p>
            <a:r>
              <a:rPr lang="en-IN" dirty="0"/>
              <a:t>- Smartphones, </a:t>
            </a:r>
            <a:r>
              <a:rPr lang="en-IN" dirty="0" err="1"/>
              <a:t>WiFi</a:t>
            </a:r>
            <a:r>
              <a:rPr lang="en-IN" dirty="0"/>
              <a:t> routers, server</a:t>
            </a:r>
          </a:p>
          <a:p>
            <a:endParaRPr lang="en-IN" dirty="0"/>
          </a:p>
          <a:p>
            <a:r>
              <a:rPr lang="en-IN" dirty="0"/>
              <a:t>Software:</a:t>
            </a:r>
          </a:p>
          <a:p>
            <a:r>
              <a:rPr lang="en-IN" dirty="0"/>
              <a:t>- Android Studio (Java/Kotlin)</a:t>
            </a:r>
          </a:p>
          <a:p>
            <a:r>
              <a:rPr lang="en-IN" dirty="0"/>
              <a:t>- Backend: Node.js / Flask</a:t>
            </a:r>
          </a:p>
          <a:p>
            <a:r>
              <a:rPr lang="en-IN" dirty="0"/>
              <a:t>- Database: MongoDB/MySQL</a:t>
            </a:r>
          </a:p>
          <a:p>
            <a:r>
              <a:rPr lang="en-IN" dirty="0"/>
              <a:t>- Tools: VS Code, Firebase (optional)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314632"/>
            <a:ext cx="10432026" cy="50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/>
              <a:t>Project Timeline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 descr="gantt_chart.png">
            <a:extLst>
              <a:ext uri="{FF2B5EF4-FFF2-40B4-BE49-F238E27FC236}">
                <a16:creationId xmlns:a16="http://schemas.microsoft.com/office/drawing/2014/main" id="{EE5805D4-345E-398F-CB4E-B96B4708F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6" y="1317523"/>
            <a:ext cx="9257068" cy="4628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7265-17E7-1F64-98F6-A9ED672D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1BAF-DD45-A7D7-455F-91DDB7CC5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r>
              <a:rPr lang="en-US" dirty="0"/>
              <a:t>- Low cost</a:t>
            </a:r>
          </a:p>
          <a:p>
            <a:r>
              <a:rPr lang="en-US" dirty="0"/>
              <a:t>- Reduces manual errors</a:t>
            </a:r>
          </a:p>
          <a:p>
            <a:r>
              <a:rPr lang="en-US" dirty="0"/>
              <a:t>- Prevents proxy</a:t>
            </a:r>
          </a:p>
          <a:p>
            <a:r>
              <a:rPr lang="en-US" dirty="0"/>
              <a:t>- Saves time</a:t>
            </a:r>
          </a:p>
          <a:p>
            <a:endParaRPr lang="en-US" dirty="0"/>
          </a:p>
          <a:p>
            <a:r>
              <a:rPr lang="en-US" dirty="0"/>
              <a:t>Limitations:</a:t>
            </a:r>
          </a:p>
          <a:p>
            <a:r>
              <a:rPr lang="en-US" dirty="0"/>
              <a:t>- Requires smartphones</a:t>
            </a:r>
          </a:p>
          <a:p>
            <a:r>
              <a:rPr lang="en-US" dirty="0"/>
              <a:t>- </a:t>
            </a:r>
            <a:r>
              <a:rPr lang="en-US" dirty="0" err="1"/>
              <a:t>WiFi</a:t>
            </a:r>
            <a:r>
              <a:rPr lang="en-US" dirty="0"/>
              <a:t> must be stable</a:t>
            </a:r>
          </a:p>
          <a:p>
            <a:r>
              <a:rPr lang="en-US" dirty="0"/>
              <a:t>- Security depends on MAC filtering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13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42C1-C25B-6CAC-EABA-E07E46E2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8477A-2A52-FF7F-6E6F-1E2B8E6D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1074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- AI-powered fraud detection</a:t>
            </a:r>
          </a:p>
          <a:p>
            <a:pPr>
              <a:lnSpc>
                <a:spcPct val="150000"/>
              </a:lnSpc>
            </a:pPr>
            <a:r>
              <a:rPr lang="en-IN" dirty="0"/>
              <a:t>- Integration with university ERP</a:t>
            </a:r>
          </a:p>
          <a:p>
            <a:pPr>
              <a:lnSpc>
                <a:spcPct val="150000"/>
              </a:lnSpc>
            </a:pPr>
            <a:r>
              <a:rPr lang="en-IN" dirty="0"/>
              <a:t>- Cloud-based scalability</a:t>
            </a:r>
          </a:p>
          <a:p>
            <a:pPr>
              <a:lnSpc>
                <a:spcPct val="150000"/>
              </a:lnSpc>
            </a:pPr>
            <a:r>
              <a:rPr lang="en-IN" dirty="0"/>
              <a:t>- Blockchain for secure logs</a:t>
            </a:r>
          </a:p>
          <a:p>
            <a:pPr>
              <a:lnSpc>
                <a:spcPct val="150000"/>
              </a:lnSpc>
            </a:pPr>
            <a:r>
              <a:rPr lang="en-IN" dirty="0"/>
              <a:t>- Cross-platform apps (Android &amp; iOS)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965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C905-73B1-8DD4-7027-E947C7F5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of IEEE papers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B214A-BF14-FC4F-7BF0-3174D62F8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[1] D. Takahashi et al., 'IEEE 802.11 user fingerprinting and applications,' IEEE, 2021.</a:t>
            </a:r>
          </a:p>
          <a:p>
            <a:pPr>
              <a:lnSpc>
                <a:spcPct val="150000"/>
              </a:lnSpc>
            </a:pPr>
            <a:r>
              <a:rPr lang="en-IN" dirty="0"/>
              <a:t>[2] J. Zheng, K. Li, and X. Zhang, 'Wi-Fi fingerprint-based indoor localization,' Sensors, 2022.</a:t>
            </a:r>
          </a:p>
          <a:p>
            <a:pPr>
              <a:lnSpc>
                <a:spcPct val="150000"/>
              </a:lnSpc>
            </a:pPr>
            <a:r>
              <a:rPr lang="en-IN" dirty="0"/>
              <a:t>[3] F. Wang et al., 'Joint Activity Recognition and Indoor Localization with </a:t>
            </a:r>
            <a:r>
              <a:rPr lang="en-IN" dirty="0" err="1"/>
              <a:t>WiFi</a:t>
            </a:r>
            <a:r>
              <a:rPr lang="en-IN" dirty="0"/>
              <a:t>,' </a:t>
            </a:r>
            <a:r>
              <a:rPr lang="en-IN" dirty="0" err="1"/>
              <a:t>arXiv</a:t>
            </a:r>
            <a:r>
              <a:rPr lang="en-IN" dirty="0"/>
              <a:t>, 2021.</a:t>
            </a:r>
          </a:p>
          <a:p>
            <a:pPr>
              <a:lnSpc>
                <a:spcPct val="150000"/>
              </a:lnSpc>
            </a:pPr>
            <a:r>
              <a:rPr lang="en-IN" dirty="0"/>
              <a:t>[4] C. M. Mesa-Cantillo et al., 'Non-Intrusive Human Presence Detection via </a:t>
            </a:r>
            <a:r>
              <a:rPr lang="en-IN" dirty="0" err="1"/>
              <a:t>WiFi</a:t>
            </a:r>
            <a:r>
              <a:rPr lang="en-IN" dirty="0"/>
              <a:t> CSI,' IEEE, 2020.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103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5BFB-224D-30F8-2E98-2974D61F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of IEEE papers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BEC04-715E-7505-ED91-DFE84386D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 algn="just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dirty="0"/>
              <a:t>[5] M. Choi et al., 'Attendance Check System and Implementation for Wi-Fi,' IEEE, 2019.</a:t>
            </a:r>
          </a:p>
          <a:p>
            <a:pPr marL="342900" indent="-342900" algn="just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dirty="0"/>
              <a:t>[6] IJIREEICE, 'Attendance Monitoring System Utilizing Wi-Fi,' 2018.</a:t>
            </a:r>
          </a:p>
          <a:p>
            <a:pPr marL="342900" indent="-342900" algn="just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dirty="0"/>
              <a:t>[7] ResearchGate, 'Wi-Fi Based Smart Attendance Monitoring System,' 2021.</a:t>
            </a:r>
          </a:p>
          <a:p>
            <a:pPr marL="342900" indent="-342900" algn="just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dirty="0"/>
              <a:t>[8] J. </a:t>
            </a:r>
            <a:r>
              <a:rPr lang="en-IN" dirty="0" err="1"/>
              <a:t>Infotel</a:t>
            </a:r>
            <a:r>
              <a:rPr lang="en-IN" dirty="0"/>
              <a:t>, 'Revolutionizing Attendance Using ESP-NOW,' J. </a:t>
            </a:r>
            <a:r>
              <a:rPr lang="en-IN" dirty="0" err="1"/>
              <a:t>Infotel</a:t>
            </a:r>
            <a:r>
              <a:rPr lang="en-IN" dirty="0"/>
              <a:t>, 2024.</a:t>
            </a:r>
          </a:p>
          <a:p>
            <a:pPr marL="342900" indent="-342900" algn="just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dirty="0"/>
              <a:t>[9] M. Rahaman, '</a:t>
            </a:r>
            <a:r>
              <a:rPr lang="en-IN" dirty="0" err="1"/>
              <a:t>SmartPresence</a:t>
            </a:r>
            <a:r>
              <a:rPr lang="en-IN" dirty="0"/>
              <a:t>: Wi-Fi-based attendance,' Springer, 2025.</a:t>
            </a:r>
          </a:p>
          <a:p>
            <a:pPr marL="342900" indent="-342900" algn="just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en-IN" dirty="0"/>
              <a:t>[10] S. He et al., 'Wi-Fi Fingerprint-Based Indoor Positioning: A Survey,' IEEE, 2019.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04937"/>
      </p:ext>
    </p:extLst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Office PowerPoint</Application>
  <PresentationFormat>Widescreen</PresentationFormat>
  <Paragraphs>131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Cambria</vt:lpstr>
      <vt:lpstr>Candara</vt:lpstr>
      <vt:lpstr>Times New Roman</vt:lpstr>
      <vt:lpstr>Verdana</vt:lpstr>
      <vt:lpstr>Wingdings</vt:lpstr>
      <vt:lpstr>Bioinformatics</vt:lpstr>
      <vt:lpstr>SmartEduTrack: WiFi-Based Student Attendance System</vt:lpstr>
      <vt:lpstr>Content</vt:lpstr>
      <vt:lpstr>Abstract</vt:lpstr>
      <vt:lpstr>Problem Statement</vt:lpstr>
      <vt:lpstr>Literature Survey </vt:lpstr>
      <vt:lpstr>Objectives</vt:lpstr>
      <vt:lpstr>Existing Methods &amp; Drawbacks</vt:lpstr>
      <vt:lpstr>Proposed Methodology</vt:lpstr>
      <vt:lpstr>System Architecture </vt:lpstr>
      <vt:lpstr>System Modules</vt:lpstr>
      <vt:lpstr>Hardware &amp; Software Requirements</vt:lpstr>
      <vt:lpstr>Project Timeline (Gantt Chart)</vt:lpstr>
      <vt:lpstr>Advantages &amp; Limitations</vt:lpstr>
      <vt:lpstr>Future Scope</vt:lpstr>
      <vt:lpstr>References of IEEE papers</vt:lpstr>
      <vt:lpstr>References of IEEE papers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NAVYA B</cp:lastModifiedBy>
  <cp:revision>1</cp:revision>
  <dcterms:created xsi:type="dcterms:W3CDTF">2025-08-19T21:51:51Z</dcterms:created>
  <dcterms:modified xsi:type="dcterms:W3CDTF">2025-09-07T12:48:55Z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0fd243805c2a4da6b8f095906c77413b</vt:lpwstr>
  </property>
</Properties>
</file>
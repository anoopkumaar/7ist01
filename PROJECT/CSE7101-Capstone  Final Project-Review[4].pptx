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5"/>
  </p:notesMasterIdLst>
  <p:sldIdLst>
    <p:sldId id="256" r:id="rId2"/>
    <p:sldId id="257" r:id="rId3"/>
    <p:sldId id="269" r:id="rId4"/>
    <p:sldId id="274" r:id="rId5"/>
    <p:sldId id="275" r:id="rId6"/>
    <p:sldId id="273" r:id="rId7"/>
    <p:sldId id="271" r:id="rId8"/>
    <p:sldId id="279" r:id="rId9"/>
    <p:sldId id="270" r:id="rId10"/>
    <p:sldId id="277" r:id="rId11"/>
    <p:sldId id="278" r:id="rId12"/>
    <p:sldId id="268"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94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altLang="en-US" sz="2400" dirty="0">
                <a:ln/>
                <a:solidFill>
                  <a:schemeClr val="accent1"/>
                </a:solidFill>
                <a:effectLst>
                  <a:outerShdw blurRad="38100" dist="25400" dir="5400000" algn="ctr" rotWithShape="0">
                    <a:srgbClr val="6E747A">
                      <a:alpha val="43000"/>
                    </a:srgbClr>
                  </a:outerShdw>
                </a:effectLst>
                <a:latin typeface="Cambria" panose="02040503050406030204" pitchFamily="18" charset="0"/>
                <a:ea typeface="Cambria" panose="02040503050406030204" pitchFamily="18" charset="0"/>
              </a:rPr>
              <a:t>EduVision-WiTrack: Secure Attendance with Visual Lock</a:t>
            </a: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 </a:t>
            </a:r>
            <a:r>
              <a:rPr lang="en-IN" sz="1800" dirty="0">
                <a:latin typeface="Times New Roman" panose="02020603050405020304" pitchFamily="18" charset="0"/>
                <a:cs typeface="Times New Roman" panose="02020603050405020304" pitchFamily="18" charset="0"/>
              </a:rPr>
              <a:t>IST_4</a:t>
            </a:r>
            <a:endParaRPr sz="18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chemeClr val="bg2"/>
              </a:solidFill>
              <a:latin typeface="Cambria" panose="02040503050406030204" pitchFamily="18" charset="0"/>
              <a:ea typeface="Cambria" panose="02040503050406030204" pitchFamily="18" charset="0"/>
              <a:cs typeface="Verdana" panose="020B0604030504040204"/>
              <a:sym typeface="Verdana" panose="020B0604030504040204"/>
            </a:endParaRPr>
          </a:p>
          <a:p>
            <a:pPr lvl="0">
              <a:spcBef>
                <a:spcPts val="340"/>
              </a:spcBef>
              <a:buClr>
                <a:srgbClr val="17365D"/>
              </a:buClr>
              <a:buSzPts val="1700"/>
            </a:pPr>
            <a:r>
              <a:rPr lang="en-IN" sz="1700" b="1" dirty="0" err="1">
                <a:solidFill>
                  <a:schemeClr val="bg2"/>
                </a:solidFill>
                <a:latin typeface="Candara" panose="020E0502030303020204" pitchFamily="34" charset="0"/>
              </a:rPr>
              <a:t>Dr.Poornima</a:t>
            </a:r>
            <a:r>
              <a:rPr lang="en-IN" sz="1700" b="1" dirty="0">
                <a:solidFill>
                  <a:schemeClr val="bg2"/>
                </a:solidFill>
                <a:latin typeface="Candara" panose="020E0502030303020204" pitchFamily="34" charset="0"/>
              </a:rPr>
              <a:t> S</a:t>
            </a:r>
          </a:p>
          <a:p>
            <a:pPr lvl="0">
              <a:spcBef>
                <a:spcPts val="340"/>
              </a:spcBef>
              <a:buClr>
                <a:srgbClr val="17365D"/>
              </a:buClr>
              <a:buSzPts val="1700"/>
            </a:pPr>
            <a:r>
              <a:rPr lang="en-GB" sz="1700" b="1" i="0" u="none" strike="noStrike" cap="none" dirty="0">
                <a:solidFill>
                  <a:schemeClr val="bg2"/>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solidFill>
                <a:schemeClr val="bg2"/>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chemeClr val="bg2"/>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dirty="0">
              <a:solidFill>
                <a:schemeClr val="bg2"/>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chemeClr val="bg2"/>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solidFill>
                <a:schemeClr val="bg2"/>
              </a:solidFill>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u="none" strike="noStrike" cap="none" dirty="0">
                          <a:latin typeface="Times New Roman" panose="02020603050405020304" pitchFamily="18" charset="0"/>
                          <a:cs typeface="Times New Roman" panose="02020603050405020304" pitchFamily="18" charset="0"/>
                        </a:rPr>
                        <a:t>20221IST0023</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G DHANUSH</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20221IST0004</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0" i="0" u="none" strike="noStrike" cap="none" dirty="0">
                          <a:solidFill>
                            <a:schemeClr val="dk1"/>
                          </a:solidFill>
                          <a:effectLst/>
                          <a:latin typeface="Times New Roman" panose="02020603050405020304" pitchFamily="18" charset="0"/>
                          <a:ea typeface="Bookman Old Style" panose="02050604050505020204"/>
                          <a:cs typeface="Times New Roman" panose="02020603050405020304" pitchFamily="18" charset="0"/>
                          <a:sym typeface="Arial" panose="020B0604020202020204"/>
                        </a:rPr>
                        <a:t>ANOOP KUMAR</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20221IST0006</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0" i="0" u="none" strike="noStrike" cap="none" dirty="0">
                          <a:solidFill>
                            <a:schemeClr val="dk1"/>
                          </a:solidFill>
                          <a:effectLst/>
                          <a:latin typeface="Times New Roman" panose="02020603050405020304" pitchFamily="18" charset="0"/>
                          <a:ea typeface="Bookman Old Style" panose="02050604050505020204"/>
                          <a:cs typeface="Times New Roman" panose="02020603050405020304" pitchFamily="18" charset="0"/>
                          <a:sym typeface="Arial" panose="020B0604020202020204"/>
                        </a:rPr>
                        <a:t>NAVYA B</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a:t>
            </a:r>
            <a:r>
              <a:rPr lang="en-IN"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4</a:t>
            </a:r>
            <a:endParaRPr lang="en-IN" alt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1800" b="1" dirty="0">
                <a:solidFill>
                  <a:schemeClr val="bg2">
                    <a:lumMod val="50000"/>
                  </a:schemeClr>
                </a:solidFill>
                <a:latin typeface="Cambria" panose="02040503050406030204" pitchFamily="18" charset="0"/>
                <a:ea typeface="Cambria" panose="02040503050406030204" pitchFamily="18" charset="0"/>
                <a:cs typeface="Verdana" panose="020B0604030504040204"/>
                <a:sym typeface="Verdana" panose="020B0604030504040204"/>
              </a:rPr>
              <a:t>Information Science and Technology</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a:t>
            </a:r>
            <a:r>
              <a:rPr lang="en-US" sz="1800" b="1" dirty="0" err="1">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HoD</a:t>
            </a: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dirty="0">
                <a:latin typeface="Cambria" panose="02040503050406030204" pitchFamily="18" charset="0"/>
                <a:ea typeface="Cambria" panose="02040503050406030204" pitchFamily="18" charset="0"/>
              </a:rPr>
              <a:t>Dr. Pallavi R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sz="1800" b="1" dirty="0">
                <a:latin typeface="Cambria" panose="02040503050406030204" pitchFamily="18" charset="0"/>
                <a:ea typeface="Cambria" panose="02040503050406030204" pitchFamily="18" charset="0"/>
              </a:rPr>
              <a:t>Ms. Benitha </a:t>
            </a:r>
            <a:r>
              <a:rPr lang="en-US" sz="1800" b="1" dirty="0" err="1">
                <a:latin typeface="Cambria" panose="02040503050406030204" pitchFamily="18" charset="0"/>
                <a:ea typeface="Cambria" panose="02040503050406030204" pitchFamily="18" charset="0"/>
              </a:rPr>
              <a:t>Christinal</a:t>
            </a:r>
            <a:r>
              <a:rPr lang="en-US" sz="1800" b="1" dirty="0">
                <a:latin typeface="Cambria" panose="02040503050406030204" pitchFamily="18" charset="0"/>
                <a:ea typeface="Cambria" panose="02040503050406030204" pitchFamily="18" charset="0"/>
              </a:rPr>
              <a:t> J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Sampath A K , Dr. Geetha A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r>
              <a:rPr lang="en-US" sz="1500" dirty="0">
                <a:latin typeface="Times New Roman" panose="02020603050405020304" pitchFamily="18" charset="0"/>
                <a:ea typeface="Cambria" panose="02040503050406030204" pitchFamily="18" charset="0"/>
                <a:cs typeface="Times New Roman" panose="02020603050405020304" pitchFamily="18" charset="0"/>
              </a:rPr>
              <a:t>Problem Statement</a:t>
            </a:r>
          </a:p>
          <a:p>
            <a:pPr marL="495300" indent="-342900" algn="just">
              <a:lnSpc>
                <a:spcPct val="200000"/>
              </a:lnSpc>
              <a:spcBef>
                <a:spcPts val="0"/>
              </a:spcBef>
              <a:buFont typeface="Arial" panose="020B0604020202020204" pitchFamily="34" charset="0"/>
              <a:buChar char="•"/>
            </a:pPr>
            <a:r>
              <a:rPr lang="en-US" sz="1500" dirty="0">
                <a:latin typeface="Times New Roman" panose="02020603050405020304" pitchFamily="18" charset="0"/>
                <a:ea typeface="Cambria" panose="02040503050406030204" pitchFamily="18" charset="0"/>
                <a:cs typeface="Times New Roman" panose="02020603050405020304" pitchFamily="18" charset="0"/>
              </a:rPr>
              <a:t>Objectives</a:t>
            </a:r>
          </a:p>
          <a:p>
            <a:pPr marL="495300" lvl="0" indent="-342900" algn="just">
              <a:lnSpc>
                <a:spcPct val="200000"/>
              </a:lnSpc>
              <a:spcBef>
                <a:spcPts val="0"/>
              </a:spcBef>
              <a:buFont typeface="Arial" panose="020B0604020202020204" pitchFamily="34" charset="0"/>
              <a:buChar char="•"/>
            </a:pPr>
            <a:r>
              <a:rPr lang="en-IN" sz="1500" dirty="0">
                <a:latin typeface="Times New Roman" panose="02020603050405020304" pitchFamily="18" charset="0"/>
                <a:ea typeface="Calibri" panose="020F0502020204030204"/>
                <a:cs typeface="Times New Roman" panose="02020603050405020304" pitchFamily="18" charset="0"/>
                <a:sym typeface="+mn-ea"/>
              </a:rPr>
              <a:t>System Architecture Diagram</a:t>
            </a:r>
            <a:endParaRPr lang="en-IN" sz="1500" dirty="0">
              <a:latin typeface="Times New Roman" panose="02020603050405020304" pitchFamily="18" charset="0"/>
              <a:cs typeface="Times New Roman" panose="02020603050405020304" pitchFamily="18" charset="0"/>
            </a:endParaRPr>
          </a:p>
          <a:p>
            <a:pPr marL="495300" lvl="0" indent="-342900" algn="just">
              <a:lnSpc>
                <a:spcPct val="200000"/>
              </a:lnSpc>
              <a:spcBef>
                <a:spcPts val="0"/>
              </a:spcBef>
              <a:buFont typeface="Arial" panose="020B0604020202020204" pitchFamily="34" charset="0"/>
              <a:buChar char="•"/>
            </a:pPr>
            <a:r>
              <a:rPr lang="en-US" sz="1500" dirty="0">
                <a:latin typeface="Times New Roman" panose="02020603050405020304" pitchFamily="18" charset="0"/>
                <a:ea typeface="Cambria" panose="02040503050406030204" pitchFamily="18" charset="0"/>
                <a:cs typeface="Times New Roman" panose="02020603050405020304" pitchFamily="18" charset="0"/>
              </a:rPr>
              <a:t>Challenges</a:t>
            </a:r>
            <a:endParaRPr lang="en-US" altLang="en-US" sz="1500" dirty="0">
              <a:latin typeface="Times New Roman" panose="02020603050405020304" pitchFamily="18" charset="0"/>
              <a:ea typeface="Cambria" panose="02040503050406030204" pitchFamily="18" charset="0"/>
              <a:cs typeface="Times New Roman" panose="02020603050405020304" pitchFamily="18" charset="0"/>
              <a:sym typeface="+mn-ea"/>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sym typeface="+mn-ea"/>
              </a:rPr>
              <a:t>Future Scope</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sym typeface="+mn-ea"/>
              </a:rPr>
              <a:t>Accuracy rate</a:t>
            </a:r>
            <a:endParaRPr lang="en-US" sz="1500" dirty="0">
              <a:latin typeface="Times New Roman" panose="020206030504050203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tLang="en-US" sz="1500" dirty="0">
                <a:latin typeface="Times New Roman" panose="02020603050405020304" pitchFamily="18" charset="0"/>
                <a:ea typeface="Cambria" panose="02040503050406030204" pitchFamily="18" charset="0"/>
                <a:cs typeface="Times New Roman" panose="02020603050405020304" pitchFamily="18" charset="0"/>
                <a:sym typeface="+mn-ea"/>
              </a:rPr>
              <a:t>Output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tLang="en-US" sz="1500" dirty="0">
                <a:latin typeface="Times New Roman" panose="02020603050405020304" pitchFamily="18" charset="0"/>
                <a:cs typeface="Times New Roman" panose="02020603050405020304" pitchFamily="18" charset="0"/>
                <a:sym typeface="+mn-ea"/>
              </a:rPr>
              <a:t>Conclusion</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500" dirty="0">
                <a:latin typeface="Times New Roman" panose="02020603050405020304" pitchFamily="18" charset="0"/>
                <a:ea typeface="Cambria" panose="02040503050406030204" pitchFamily="18" charset="0"/>
                <a:cs typeface="Times New Roman" panose="02020603050405020304" pitchFamily="18" charset="0"/>
                <a:sym typeface="+mn-ea"/>
              </a:rPr>
              <a:t>Github Link</a:t>
            </a:r>
            <a:endParaRPr lang="en-US" sz="800"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a:t>
            </a:r>
            <a:r>
              <a:rPr lang="en-IN" i="1" dirty="0">
                <a:latin typeface="Times New Roman" panose="02020603050405020304" pitchFamily="18" charset="0"/>
                <a:cs typeface="Times New Roman" panose="02020603050405020304" pitchFamily="18" charset="0"/>
              </a:rPr>
              <a:t>582</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altLang="en-US" dirty="0">
                <a:ln/>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Cambria" panose="02040503050406030204" pitchFamily="18" charset="0"/>
                <a:cs typeface="Times New Roman" panose="02020603050405020304" pitchFamily="18" charset="0"/>
              </a:rPr>
              <a:t>Problem Description</a:t>
            </a:r>
          </a:p>
          <a:p>
            <a:pPr marL="76200" indent="0">
              <a:buNone/>
            </a:pPr>
            <a:r>
              <a:rPr lang="en-US" altLang="en-US" dirty="0">
                <a:latin typeface="Times New Roman" panose="02020603050405020304" pitchFamily="18" charset="0"/>
                <a:ea typeface="Cambria" panose="02040503050406030204" pitchFamily="18" charset="0"/>
                <a:cs typeface="Times New Roman" panose="02020603050405020304" pitchFamily="18" charset="0"/>
              </a:rPr>
              <a:t>Traditional attendance systems are slow, easy to manipulate, and allow proxy attendance. Basic Wi-Fi–based attendance marks students present just by detecting their device, even if they are outside the classroom. This creates a major security problem.</a:t>
            </a:r>
          </a:p>
          <a:p>
            <a:pPr marL="76200" indent="0">
              <a:buNone/>
            </a:pPr>
            <a:endParaRPr lang="en-US" altLang="en-US" dirty="0">
              <a:latin typeface="Times New Roman" panose="02020603050405020304" pitchFamily="18" charset="0"/>
              <a:ea typeface="Cambria" panose="02040503050406030204" pitchFamily="18" charset="0"/>
              <a:cs typeface="Times New Roman" panose="02020603050405020304" pitchFamily="18" charset="0"/>
            </a:endParaRPr>
          </a:p>
          <a:p>
            <a:pPr marL="76200" indent="0">
              <a:buNone/>
            </a:pPr>
            <a:r>
              <a:rPr lang="en-US" altLang="en-US" dirty="0">
                <a:latin typeface="Times New Roman" panose="02020603050405020304" pitchFamily="18" charset="0"/>
                <a:ea typeface="Cambria" panose="02040503050406030204" pitchFamily="18" charset="0"/>
                <a:cs typeface="Times New Roman" panose="02020603050405020304" pitchFamily="18" charset="0"/>
              </a:rPr>
              <a:t>To solve this, there is a need for a secure system that can verify both device connection and physical presence. The proposed solution combines Wi-Fi IP detection with a real-time camera headcount to ensure attendance is marked only when both match, preventing proxy and improving accuracy.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495300" indent="-342900" algn="just">
              <a:lnSpc>
                <a:spcPct val="200000"/>
              </a:lnSpc>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152400" lvl="0" indent="0" algn="just" rtl="0">
              <a:lnSpc>
                <a:spcPct val="200000"/>
              </a:lnSpc>
              <a:spcBef>
                <a:spcPts val="0"/>
              </a:spcBef>
              <a:spcAft>
                <a:spcPts val="0"/>
              </a:spcAft>
              <a:buClr>
                <a:schemeClr val="dk1"/>
              </a:buClr>
              <a:buSzPts val="2400"/>
              <a:buNone/>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
        <p:nvSpPr>
          <p:cNvPr id="9" name="Rectangle 8"/>
          <p:cNvSpPr>
            <a:spLocks noChangeArrowheads="1"/>
          </p:cNvSpPr>
          <p:nvPr/>
        </p:nvSpPr>
        <p:spPr bwMode="auto">
          <a:xfrm>
            <a:off x="812800" y="1297647"/>
            <a:ext cx="10151110" cy="3169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2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secure attendance system using Wi-Fi IP detection and real-time camera validation.</a:t>
            </a:r>
          </a:p>
          <a:p>
            <a:pPr marL="0" marR="0" lvl="0" indent="0" algn="l" defTabSz="914400" rtl="0" eaLnBrk="0" fontAlgn="base" latinLnBrk="0" hangingPunct="0">
              <a:lnSpc>
                <a:spcPct val="2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prevent proxy attendance by matching connected device count with actual student headcount.</a:t>
            </a:r>
          </a:p>
          <a:p>
            <a:pPr marL="0" marR="0" lvl="0" indent="0" algn="l" defTabSz="914400" rtl="0" eaLnBrk="0" fontAlgn="base" latinLnBrk="0" hangingPunct="0">
              <a:lnSpc>
                <a:spcPct val="2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automate attendance marking and reduce manual effort and human errors.</a:t>
            </a:r>
          </a:p>
          <a:p>
            <a:pPr marL="0" marR="0" lvl="0" indent="0" algn="l" defTabSz="914400" rtl="0" eaLnBrk="0" fontAlgn="base" latinLnBrk="0" hangingPunct="0">
              <a:lnSpc>
                <a:spcPct val="2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utilize existing campus Wi-Fi and low-cost camera hardware for an affordable solution.</a:t>
            </a:r>
          </a:p>
          <a:p>
            <a:pPr marL="0" marR="0" lvl="0" indent="0" algn="l" defTabSz="914400" rtl="0" eaLnBrk="0" fontAlgn="base" latinLnBrk="0" hangingPunct="0">
              <a:lnSpc>
                <a:spcPct val="2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ensure accurate, fast, and reliable attendance recording for classrooms.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45298"/>
            <a:ext cx="10668000" cy="45719"/>
          </a:xfrm>
        </p:spPr>
        <p:txBody>
          <a:bodyPr/>
          <a:lstStyle/>
          <a:p>
            <a:r>
              <a:rPr lang="en-IN" dirty="0">
                <a:latin typeface="Cambria" panose="02040503050406030204" pitchFamily="18" charset="0"/>
                <a:ea typeface="Cambria" panose="02040503050406030204" pitchFamily="18" charset="0"/>
                <a:cs typeface="Calibri" panose="020F0502020204030204" pitchFamily="34" charset="0"/>
                <a:sym typeface="+mn-ea"/>
              </a:rPr>
              <a:t>System Architecture Diagram</a:t>
            </a:r>
            <a:endParaRPr lang="en-IN" dirty="0">
              <a:latin typeface="Cambria" panose="02040503050406030204" pitchFamily="18" charset="0"/>
              <a:ea typeface="Cambria" panose="02040503050406030204" pitchFamily="18" charset="0"/>
              <a:cs typeface="Calibri" panose="020F0502020204030204" pitchFamily="34" charset="0"/>
            </a:endParaRPr>
          </a:p>
        </p:txBody>
      </p:sp>
      <p:pic>
        <p:nvPicPr>
          <p:cNvPr id="3" name="Picture 1"/>
          <p:cNvPicPr>
            <a:picLocks noChangeAspect="1"/>
          </p:cNvPicPr>
          <p:nvPr/>
        </p:nvPicPr>
        <p:blipFill>
          <a:blip r:embed="rId2"/>
          <a:stretch>
            <a:fillRect/>
          </a:stretch>
        </p:blipFill>
        <p:spPr>
          <a:xfrm>
            <a:off x="1614805" y="1578610"/>
            <a:ext cx="7449820" cy="37007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latin typeface="Cambria" panose="02040503050406030204" pitchFamily="18" charset="0"/>
                <a:ea typeface="Cambria" panose="02040503050406030204" pitchFamily="18" charset="0"/>
                <a:cs typeface="Times New Roman" panose="02020603050405020304" pitchFamily="18" charset="0"/>
              </a:rPr>
              <a:t>Challenges</a:t>
            </a: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3" name="Text Placeholder 2"/>
          <p:cNvSpPr>
            <a:spLocks noGrp="1" noChangeArrowheads="1"/>
          </p:cNvSpPr>
          <p:nvPr>
            <p:ph type="body" idx="1"/>
          </p:nvPr>
        </p:nvSpPr>
        <p:spPr bwMode="auto">
          <a:xfrm>
            <a:off x="762000" y="1443683"/>
            <a:ext cx="106680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85750" indent="-285750" eaLnBrk="0" fontAlgn="base" hangingPunct="0">
              <a:spcBef>
                <a:spcPct val="0"/>
              </a:spcBef>
              <a:spcAft>
                <a:spcPct val="0"/>
              </a:spcAft>
              <a:buClrTx/>
              <a:buSzTx/>
            </a:pPr>
            <a:r>
              <a:rPr kumimoji="0" lang="en-GB"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Headcount Accuracy: Making the AI camera count reliable in a dynamic classroom was a major hurdle. The solution was to use it as a verification tool that flags discrepancies for the faculty, rather than as an absolute final count.</a:t>
            </a:r>
          </a:p>
          <a:p>
            <a:pPr marL="0" indent="0" eaLnBrk="0" fontAlgn="base" hangingPunct="0">
              <a:spcBef>
                <a:spcPct val="0"/>
              </a:spcBef>
              <a:spcAft>
                <a:spcPct val="0"/>
              </a:spcAft>
              <a:buClrTx/>
              <a:buSzTx/>
              <a:buNone/>
            </a:pPr>
            <a:endParaRPr kumimoji="0" lang="en-GB"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eaLnBrk="0" fontAlgn="base" hangingPunct="0">
              <a:spcBef>
                <a:spcPct val="0"/>
              </a:spcBef>
              <a:spcAft>
                <a:spcPct val="0"/>
              </a:spcAft>
              <a:buClrTx/>
              <a:buSzTx/>
            </a:pPr>
            <a:r>
              <a:rPr kumimoji="0" lang="en-GB"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Data Sync: Synchronizing three different data points—the AI count, manual entries, and device count—required creating a clear, real-time dashboard to instantly highlight any mismatches for the user.</a:t>
            </a:r>
          </a:p>
          <a:p>
            <a:pPr marL="0" indent="0" eaLnBrk="0" fontAlgn="base" hangingPunct="0">
              <a:spcBef>
                <a:spcPct val="0"/>
              </a:spcBef>
              <a:spcAft>
                <a:spcPct val="0"/>
              </a:spcAft>
              <a:buClrTx/>
              <a:buSzTx/>
              <a:buNone/>
            </a:pPr>
            <a:endParaRPr lang="en-GB" altLang="en-US" sz="2000" dirty="0">
              <a:solidFill>
                <a:schemeClr val="tx1"/>
              </a:solidFill>
              <a:latin typeface="Times New Roman" panose="02020603050405020304" pitchFamily="18" charset="0"/>
              <a:cs typeface="Times New Roman" panose="02020603050405020304" pitchFamily="18" charset="0"/>
            </a:endParaRPr>
          </a:p>
          <a:p>
            <a:pPr marL="285750" indent="-285750" eaLnBrk="0" fontAlgn="base" hangingPunct="0">
              <a:spcBef>
                <a:spcPct val="0"/>
              </a:spcBef>
              <a:spcAft>
                <a:spcPct val="0"/>
              </a:spcAft>
              <a:buClrTx/>
              <a:buSzTx/>
            </a:pPr>
            <a:r>
              <a:rPr kumimoji="0" lang="en-GB"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Camera Permission Management: Integrating the camera feed seamlessly was complex. This was solved by creating dedicated functions to handle permissions, start and stop the video stream, and gracefully manage cases where access is denied.</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latin typeface="Cambria" panose="02040503050406030204" pitchFamily="18" charset="0"/>
                <a:ea typeface="Cambria" panose="02040503050406030204" pitchFamily="18" charset="0"/>
                <a:cs typeface="Times New Roman" panose="02020603050405020304" pitchFamily="18" charset="0"/>
                <a:sym typeface="+mn-ea"/>
              </a:rPr>
              <a:t>Future Scope</a:t>
            </a:r>
            <a:endParaRPr lang="en-US" altLang="en-US" dirty="0">
              <a:latin typeface="Cambria" panose="02040503050406030204" pitchFamily="18" charset="0"/>
              <a:ea typeface="Cambria" panose="02040503050406030204" pitchFamily="18" charset="0"/>
            </a:endParaRPr>
          </a:p>
        </p:txBody>
      </p:sp>
      <p:sp>
        <p:nvSpPr>
          <p:cNvPr id="4" name="Text Box 3"/>
          <p:cNvSpPr txBox="1"/>
          <p:nvPr/>
        </p:nvSpPr>
        <p:spPr>
          <a:xfrm>
            <a:off x="1036321" y="1532890"/>
            <a:ext cx="9560560" cy="4524315"/>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Integration of face recognition to identify individual students automatically.</a:t>
            </a:r>
          </a:p>
          <a:p>
            <a:pPr>
              <a:lnSpc>
                <a:spcPct val="150000"/>
              </a:lnSpc>
            </a:pP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Expansion of the system for large halls using multiple synchronized cameras.</a:t>
            </a:r>
          </a:p>
          <a:p>
            <a:pPr>
              <a:lnSpc>
                <a:spcPct val="150000"/>
              </a:lnSpc>
            </a:pP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Addition of GPS/location verification for outdoor or seminar-based attendance.</a:t>
            </a:r>
          </a:p>
          <a:p>
            <a:pPr>
              <a:lnSpc>
                <a:spcPct val="150000"/>
              </a:lnSpc>
            </a:pP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Development of a mobile app for real-time alerts, analytics, and instructor controls.</a:t>
            </a:r>
          </a:p>
          <a:p>
            <a:pPr>
              <a:lnSpc>
                <a:spcPct val="150000"/>
              </a:lnSpc>
            </a:pP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Use of AI models to improve headcount accuracy and detect unusual attendance patterns.</a:t>
            </a:r>
          </a:p>
          <a:p>
            <a:pPr marL="285750" indent="-285750">
              <a:buFont typeface="Arial" panose="020B0604020202020204" pitchFamily="34" charset="0"/>
              <a:buChar char="•"/>
            </a:pPr>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Cambria" panose="02040503050406030204" pitchFamily="18" charset="0"/>
                <a:ea typeface="Cambria" panose="02040503050406030204" pitchFamily="18" charset="0"/>
                <a:cs typeface="Times New Roman" panose="02020603050405020304" pitchFamily="18" charset="0"/>
              </a:rPr>
              <a:t>Accuracy Rate</a:t>
            </a: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3" name="Text Placeholder 2"/>
          <p:cNvSpPr>
            <a:spLocks noGrp="1"/>
          </p:cNvSpPr>
          <p:nvPr>
            <p:ph type="body" idx="1"/>
          </p:nvPr>
        </p:nvSpPr>
        <p:spPr/>
        <p:txBody>
          <a:bodyPr>
            <a:noAutofit/>
          </a:bodyPr>
          <a:lstStyle/>
          <a:p>
            <a:pPr>
              <a:lnSpc>
                <a:spcPct val="150000"/>
              </a:lnSpc>
            </a:pPr>
            <a:r>
              <a:rPr lang="en-GB" altLang="en-US" sz="2000" b="1" dirty="0">
                <a:latin typeface="Times New Roman" panose="02020603050405020304" pitchFamily="18" charset="0"/>
                <a:cs typeface="Times New Roman" panose="02020603050405020304" pitchFamily="18" charset="0"/>
              </a:rPr>
              <a:t>AI Camera Headcount: </a:t>
            </a:r>
            <a:r>
              <a:rPr lang="en-GB" altLang="en-US" sz="2000" dirty="0">
                <a:latin typeface="Times New Roman" panose="02020603050405020304" pitchFamily="18" charset="0"/>
                <a:cs typeface="Times New Roman" panose="02020603050405020304" pitchFamily="18" charset="0"/>
              </a:rPr>
              <a:t>The system is designed to achieve 95-99% accuracy under ideal conditions (e.g., a clear, well-lit photo of the classroom). This percentage can be lower in real-world scenarios with obstructions or poor image quality, which is why it primarily serves as a powerful verification tool for the faculty to confirm their own counts.</a:t>
            </a:r>
          </a:p>
          <a:p>
            <a:pPr marL="76200" indent="0">
              <a:lnSpc>
                <a:spcPct val="150000"/>
              </a:lnSpc>
              <a:buNone/>
            </a:pPr>
            <a:endParaRPr lang="en-GB" altLang="en-US" sz="2000" dirty="0">
              <a:latin typeface="Times New Roman" panose="02020603050405020304" pitchFamily="18" charset="0"/>
              <a:cs typeface="Times New Roman" panose="02020603050405020304" pitchFamily="18" charset="0"/>
            </a:endParaRPr>
          </a:p>
          <a:p>
            <a:pPr>
              <a:lnSpc>
                <a:spcPct val="150000"/>
              </a:lnSpc>
            </a:pPr>
            <a:r>
              <a:rPr lang="en-GB" altLang="en-US" sz="2000" b="1" dirty="0">
                <a:latin typeface="Times New Roman" panose="02020603050405020304" pitchFamily="18" charset="0"/>
                <a:cs typeface="Times New Roman" panose="02020603050405020304" pitchFamily="18" charset="0"/>
              </a:rPr>
              <a:t>Automated Check-in System (Wi-Fi): </a:t>
            </a:r>
            <a:r>
              <a:rPr lang="en-GB" altLang="en-US" sz="2000" dirty="0">
                <a:latin typeface="Times New Roman" panose="02020603050405020304" pitchFamily="18" charset="0"/>
                <a:cs typeface="Times New Roman" panose="02020603050405020304" pitchFamily="18" charset="0"/>
              </a:rPr>
              <a:t>In a real-world deployment, the automated check-in system is designed for high reliability, targeting an accuracy rate of 99.5%. The small margin of error accounts for rare instances of hardware malfunction or significant network interference, but overall, it provides a highly dependable method for recording attendance.</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Output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altLang="en-US" dirty="0">
                <a:latin typeface="Times New Roman" panose="02020603050405020304" pitchFamily="18" charset="0"/>
                <a:ea typeface="Cambria" panose="02040503050406030204" pitchFamily="18" charset="0"/>
                <a:cs typeface="Times New Roman" panose="02020603050405020304" pitchFamily="18" charset="0"/>
              </a:rPr>
              <a:t>Situation 1: There are 1 pupils in the class, and every registered gadget is linked to the Wi-Fi. Twenty students were counted by the camera. All 1 of the students were correctly marked by the system.</a:t>
            </a:r>
          </a:p>
        </p:txBody>
      </p:sp>
      <p:pic>
        <p:nvPicPr>
          <p:cNvPr id="2076551100" name="Picture 1" descr="A screenshot of a computer&#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15745" y="2586355"/>
            <a:ext cx="8427720" cy="317881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Cambria" panose="02040503050406030204" pitchFamily="18" charset="0"/>
                <a:ea typeface="Cambria" panose="02040503050406030204" pitchFamily="18" charset="0"/>
                <a:sym typeface="+mn-ea"/>
              </a:rPr>
              <a:t>Output</a:t>
            </a:r>
            <a:endParaRPr lang="en-US"/>
          </a:p>
        </p:txBody>
      </p:sp>
      <p:sp>
        <p:nvSpPr>
          <p:cNvPr id="3" name="Text Placeholder 2"/>
          <p:cNvSpPr>
            <a:spLocks noGrp="1"/>
          </p:cNvSpPr>
          <p:nvPr>
            <p:ph type="body" idx="1"/>
          </p:nvPr>
        </p:nvSpPr>
        <p:spPr/>
        <p:txBody>
          <a:bodyPr/>
          <a:lstStyle/>
          <a:p>
            <a:r>
              <a:rPr lang="en-US" altLang="en-US">
                <a:latin typeface="Times New Roman" panose="02020603050405020304" pitchFamily="18" charset="0"/>
                <a:cs typeface="Times New Roman" panose="02020603050405020304" pitchFamily="18" charset="0"/>
              </a:rPr>
              <a:t>Situation 2: Attendance of Proxy Try. From outside the classroom network, a student's device was linked. Although the IP address was identified, there were 2 pupils with cameras and 3 connected devices. By accurately detecting the disparity and flagging the attendance as invalid, the system stopped fraudulent marking. </a:t>
            </a:r>
          </a:p>
        </p:txBody>
      </p:sp>
      <p:pic>
        <p:nvPicPr>
          <p:cNvPr id="891410261" name="Picture 4" descr="A screenshot of a computer&#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58595" y="3514090"/>
            <a:ext cx="9470390" cy="215709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Conclusion</a:t>
            </a:r>
          </a:p>
        </p:txBody>
      </p:sp>
      <p:sp>
        <p:nvSpPr>
          <p:cNvPr id="3" name="Text Placeholder 2"/>
          <p:cNvSpPr>
            <a:spLocks noGrp="1"/>
          </p:cNvSpPr>
          <p:nvPr>
            <p:ph type="body" idx="1"/>
          </p:nvPr>
        </p:nvSpPr>
        <p:spPr/>
        <p:txBody>
          <a:bodyPr>
            <a:normAutofit fontScale="90000" lnSpcReduction="20000"/>
          </a:bodyPr>
          <a:lstStyle/>
          <a:p>
            <a:r>
              <a:rPr lang="en-US" altLang="en-US" sz="2500">
                <a:latin typeface="Times New Roman" panose="02020603050405020304" pitchFamily="18" charset="0"/>
                <a:cs typeface="Times New Roman" panose="02020603050405020304" pitchFamily="18" charset="0"/>
              </a:rPr>
              <a:t>A unique Wi-Fi and camera-based smart attendance monitoring system that overcomes the serious security vulnerabilities of single-factor solutions was successfully created and tested in this study. The system offers a strong defense against proxy attendance fraud by putting in place a dual-validation mechanism that compares the number of authenticated IP addresses on the network with a real-time, camera-based occupant headcount. </a:t>
            </a:r>
          </a:p>
          <a:p>
            <a:r>
              <a:rPr lang="en-US" altLang="en-US" sz="2500">
                <a:latin typeface="Times New Roman" panose="02020603050405020304" pitchFamily="18" charset="0"/>
                <a:cs typeface="Times New Roman" panose="02020603050405020304" pitchFamily="18" charset="0"/>
              </a:rPr>
              <a:t>The methodology's main goals were accomplished by: </a:t>
            </a:r>
          </a:p>
          <a:p>
            <a:r>
              <a:rPr lang="en-US" altLang="en-US" sz="2500">
                <a:latin typeface="Times New Roman" panose="02020603050405020304" pitchFamily="18" charset="0"/>
                <a:cs typeface="Times New Roman" panose="02020603050405020304" pitchFamily="18" charset="0"/>
              </a:rPr>
              <a:t>Mitigating Fraud: Showing that the dual-check logic is successful in guaranteeing both digital and physical presence, 100% fraud detection was achieved in tested proxy scenarios.</a:t>
            </a:r>
          </a:p>
          <a:p>
            <a:r>
              <a:rPr lang="en-US" altLang="en-US" sz="2500">
                <a:latin typeface="Times New Roman" panose="02020603050405020304" pitchFamily="18" charset="0"/>
                <a:cs typeface="Times New Roman" panose="02020603050405020304" pitchFamily="18" charset="0"/>
              </a:rPr>
              <a:t>Assuring Feasibility: Verifying that a high-security automated system can be implemented with affordable and easily accessible infrastructure, such as the campus's current Wi-Fi and widely used computer vision libraries. </a:t>
            </a:r>
          </a:p>
          <a:p>
            <a:r>
              <a:rPr lang="en-US" altLang="en-US" sz="2500">
                <a:latin typeface="Times New Roman" panose="02020603050405020304" pitchFamily="18" charset="0"/>
                <a:cs typeface="Times New Roman" panose="02020603050405020304" pitchFamily="18" charset="0"/>
              </a:rPr>
              <a:t>By effectively automating the time-consuming attendance process and providing extra features like a location-based fallback for connectivity problems, efficiency can be increased.</a:t>
            </a:r>
          </a:p>
          <a:p>
            <a:endParaRPr lang="en-US" altLang="en-US" sz="250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lnSpc>
                <a:spcPct val="200000"/>
              </a:lnSpc>
              <a:spcBef>
                <a:spcPts val="0"/>
              </a:spcBef>
              <a:buSzPct val="100000"/>
              <a:buNone/>
            </a:pPr>
            <a:r>
              <a:rPr lang="en-US" altLang="en-US" dirty="0">
                <a:latin typeface="Cambria" panose="02040503050406030204" pitchFamily="18" charset="0"/>
                <a:ea typeface="Cambria" panose="02040503050406030204" pitchFamily="18" charset="0"/>
              </a:rPr>
              <a:t>https://github.com/ANOOPKUMAAR/7IST01</a:t>
            </a: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864</Words>
  <Application>Microsoft Office PowerPoint</Application>
  <PresentationFormat>Widescreen</PresentationFormat>
  <Paragraphs>84</Paragraphs>
  <Slides>13</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Cambria</vt:lpstr>
      <vt:lpstr>Candara</vt:lpstr>
      <vt:lpstr>Times New Roman</vt:lpstr>
      <vt:lpstr>Verdana</vt:lpstr>
      <vt:lpstr>Wingdings</vt:lpstr>
      <vt:lpstr>Bioinformatics</vt:lpstr>
      <vt:lpstr>EduVision-WiTrack: Secure Attendance with Visual Lock</vt:lpstr>
      <vt:lpstr>Content</vt:lpstr>
      <vt:lpstr>Problem Statement Number: 582</vt:lpstr>
      <vt:lpstr>Objectives</vt:lpstr>
      <vt:lpstr>System Architecture Diagram</vt:lpstr>
      <vt:lpstr>Challenges</vt:lpstr>
      <vt:lpstr>Future Scope</vt:lpstr>
      <vt:lpstr>Accuracy Rate</vt:lpstr>
      <vt:lpstr>Output</vt:lpstr>
      <vt:lpstr>Output</vt:lpstr>
      <vt:lpstr>Conclusion</vt:lpstr>
      <vt:lpstr>Github Link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ANOOP KUMAR</cp:lastModifiedBy>
  <cp:revision>44</cp:revision>
  <dcterms:created xsi:type="dcterms:W3CDTF">2025-11-29T14:26:37Z</dcterms:created>
  <dcterms:modified xsi:type="dcterms:W3CDTF">2025-11-30T21:24:17Z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035759B27FB64D74BAAB2F3DB02ECA64_13</vt:lpwstr>
  </property>
  <property fmtid="{D5CDD505-2E9C-101B-9397-08002B2CF9AE}" pid="3" name="KSOProductBuildVer">
    <vt:lpwstr>1033-12.2.0.23155</vt:lpwstr>
  </property>
</Properties>
</file>